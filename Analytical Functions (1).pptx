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783" r:id="rId5"/>
    <p:sldId id="4799" r:id="rId6"/>
    <p:sldId id="4778" r:id="rId7"/>
    <p:sldId id="4784" r:id="rId8"/>
    <p:sldId id="4787" r:id="rId9"/>
    <p:sldId id="4785" r:id="rId10"/>
    <p:sldId id="4786" r:id="rId11"/>
    <p:sldId id="4788" r:id="rId12"/>
    <p:sldId id="4789" r:id="rId13"/>
    <p:sldId id="4790" r:id="rId14"/>
    <p:sldId id="4791" r:id="rId15"/>
    <p:sldId id="4792" r:id="rId16"/>
    <p:sldId id="4793" r:id="rId17"/>
    <p:sldId id="4794" r:id="rId18"/>
    <p:sldId id="4795" r:id="rId19"/>
    <p:sldId id="4796" r:id="rId20"/>
    <p:sldId id="4797" r:id="rId21"/>
    <p:sldId id="4798" r:id="rId22"/>
    <p:sldId id="4800" r:id="rId23"/>
    <p:sldId id="4801" r:id="rId24"/>
    <p:sldId id="4802" r:id="rId25"/>
    <p:sldId id="4803" r:id="rId26"/>
    <p:sldId id="4804" r:id="rId27"/>
    <p:sldId id="4805" r:id="rId28"/>
    <p:sldId id="4806" r:id="rId29"/>
    <p:sldId id="4807" r:id="rId30"/>
    <p:sldId id="4808" r:id="rId31"/>
    <p:sldId id="4809" r:id="rId32"/>
    <p:sldId id="4810" r:id="rId33"/>
    <p:sldId id="4811" r:id="rId34"/>
    <p:sldId id="4812" r:id="rId35"/>
    <p:sldId id="4813" r:id="rId36"/>
    <p:sldId id="4814" r:id="rId37"/>
    <p:sldId id="481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EEAEE-4756-7274-EEB7-8280C9455F29}" v="16" dt="2025-10-06T06:37:08.25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 Jindal" userId="S::renu.jindal@complereinfosystem.com::d9ec3bc4-ed8f-451f-b671-f5ff93217273" providerId="AD" clId="Web-{AADEEAEE-4756-7274-EEB7-8280C9455F29}"/>
    <pc:docChg chg="addSld">
      <pc:chgData name="Renu  Jindal" userId="S::renu.jindal@complereinfosystem.com::d9ec3bc4-ed8f-451f-b671-f5ff93217273" providerId="AD" clId="Web-{AADEEAEE-4756-7274-EEB7-8280C9455F29}" dt="2025-10-06T06:37:08.250" v="15"/>
      <pc:docMkLst>
        <pc:docMk/>
      </pc:docMkLst>
      <pc:sldChg chg="add">
        <pc:chgData name="Renu  Jindal" userId="S::renu.jindal@complereinfosystem.com::d9ec3bc4-ed8f-451f-b671-f5ff93217273" providerId="AD" clId="Web-{AADEEAEE-4756-7274-EEB7-8280C9455F29}" dt="2025-10-06T06:21:02.774" v="0"/>
        <pc:sldMkLst>
          <pc:docMk/>
          <pc:sldMk cId="3742292021" sldId="4800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11.789" v="1"/>
        <pc:sldMkLst>
          <pc:docMk/>
          <pc:sldMk cId="1042166038" sldId="4801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20.399" v="2"/>
        <pc:sldMkLst>
          <pc:docMk/>
          <pc:sldMk cId="2185232325" sldId="4802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29.196" v="3"/>
        <pc:sldMkLst>
          <pc:docMk/>
          <pc:sldMk cId="172477116" sldId="4803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37.993" v="4"/>
        <pc:sldMkLst>
          <pc:docMk/>
          <pc:sldMk cId="1040886736" sldId="4804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47.180" v="5"/>
        <pc:sldMkLst>
          <pc:docMk/>
          <pc:sldMk cId="3605852699" sldId="4805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1:56.134" v="6"/>
        <pc:sldMkLst>
          <pc:docMk/>
          <pc:sldMk cId="1315185151" sldId="4806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2:05.618" v="7"/>
        <pc:sldMkLst>
          <pc:docMk/>
          <pc:sldMk cId="613294460" sldId="4807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2:14.743" v="8"/>
        <pc:sldMkLst>
          <pc:docMk/>
          <pc:sldMk cId="3267852717" sldId="4808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22:24.103" v="9"/>
        <pc:sldMkLst>
          <pc:docMk/>
          <pc:sldMk cId="3986489688" sldId="4809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6:16.888" v="10"/>
        <pc:sldMkLst>
          <pc:docMk/>
          <pc:sldMk cId="260366817" sldId="4810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6:25.326" v="11"/>
        <pc:sldMkLst>
          <pc:docMk/>
          <pc:sldMk cId="2123185001" sldId="4811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6:35.577" v="12"/>
        <pc:sldMkLst>
          <pc:docMk/>
          <pc:sldMk cId="1475380802" sldId="4812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6:49.155" v="13"/>
        <pc:sldMkLst>
          <pc:docMk/>
          <pc:sldMk cId="3439974932" sldId="4813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6:59.156" v="14"/>
        <pc:sldMkLst>
          <pc:docMk/>
          <pc:sldMk cId="713863212" sldId="4814"/>
        </pc:sldMkLst>
      </pc:sldChg>
      <pc:sldChg chg="add">
        <pc:chgData name="Renu  Jindal" userId="S::renu.jindal@complereinfosystem.com::d9ec3bc4-ed8f-451f-b671-f5ff93217273" providerId="AD" clId="Web-{AADEEAEE-4756-7274-EEB7-8280C9455F29}" dt="2025-10-06T06:37:08.250" v="15"/>
        <pc:sldMkLst>
          <pc:docMk/>
          <pc:sldMk cId="3324234900" sldId="481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C90E-4EF3-A2ED-BE79-030FE990B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100F4-3F21-B675-081B-08BD286EF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18AD-3D59-019D-9206-434F0AD2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0D3D-22AC-3B14-9F72-06946468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46022-1F83-C6CF-F22C-1E5A06EE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20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A613-43EF-17E5-BFB4-DE4E0D2F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7101-D936-0881-8562-57268972F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E40EF-8FCA-0B49-4D67-4A10EA5A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D0947-55D3-DEA6-A1A1-207A7F1C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E645-1CD0-07B0-B6F4-66D2FA09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39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D480-AEC3-5843-AB4E-F62508ED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82217-CFEF-2120-047A-C597BA321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7F6FB-6079-80CD-FB5B-11180AA7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BFA4-57B5-BFEE-051E-CC05C49C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C3BD6-6482-4CA4-3080-8D7D386E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39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07E-F03E-6CFA-5638-45C7D211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BAAD-C554-1CB9-FEBF-11C50FA02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00862-4E03-AA7C-E4EE-85C25E028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37CC5-B236-9356-9516-764EFC4C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5FDD9-7BE4-70FE-9AD4-340A0537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A3FF5-0C32-DBF4-9AFB-E5DDB070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3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04A0-C022-7DAD-167E-C72D50C8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BDA6C-02DA-120D-5C63-99368106F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B960B-D8FA-BE09-3973-A91A13A96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03F06-37FD-2F2B-6FA1-E123293C0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FDC75-0A04-A4DE-1E4F-D856109D8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F7589-9FD3-6B85-5273-2464FDA6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96CBC-AE1D-1024-C01D-DEFEAFB9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B0BF3-17EB-D9EC-E277-6393A115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35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1213-D6CD-02A6-57B1-01485A09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14222-90CD-53B5-FC89-245A44B4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0BAE1-53AB-BAC1-941F-E41428DF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FFCD1-F5A0-1F15-3BF4-428C0D5C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1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932E7-D3C7-DBA6-4A5D-9C1787C4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6AAB5-1AD7-FC43-75F6-E8E6D637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97D8F-389B-81A7-09F2-3936B3B1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8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872A-52BB-0E46-D9D2-79EC905BD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9DF1-BDD1-EF6C-C7CF-D5C4B52F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9D958-0BE8-A8E6-2E8A-A03ABFFAB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C123A-ECA6-B9F3-A0FE-45F124EE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9945D-E766-B53F-E6D2-33F0ACC8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525B6-A1B0-09DB-ECEC-3FA10E1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32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C591-DBCC-1F14-DE73-4EF73032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2B218-8C67-1F5C-DE68-834DA2619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F68EC-C095-8760-29BA-3ECAB1C23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CA0E0-04C5-83D2-4E82-E5495AF6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76BC2-4E19-6432-21CD-F49A72A9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A3B89-C9F7-1FFA-4511-7BE750F6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7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863BE-A66D-85E4-B50B-9A516126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A2B4E-49D4-2CF9-FB8F-9A589F050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4B878-B8DD-D354-48BA-0E16053C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98625-F623-C396-F5A9-CC1F7C34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4788-63B0-2111-44F6-EA709031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95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73464-DE82-E375-B0DE-1A8F2B3FF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A22F3-1FEA-4107-A808-759EBBBC4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87D2-E4A3-5731-7AD8-166CFCAD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12611-63ED-3EAB-5908-ED044419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D111C-B4D5-BDB9-F654-6B732E3C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87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Yellow -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curved lines&#10;&#10;AI-generated content may be incorrect.">
            <a:extLst>
              <a:ext uri="{FF2B5EF4-FFF2-40B4-BE49-F238E27FC236}">
                <a16:creationId xmlns:a16="http://schemas.microsoft.com/office/drawing/2014/main" id="{B73DC436-C430-1491-E846-E1D25FC06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26183" cy="6858000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630086" y="3705443"/>
            <a:ext cx="4931833" cy="2709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 sz="1333" b="0" i="0" spc="267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55612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30244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4349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PRESENTATION DATE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34183" y="8110409"/>
            <a:ext cx="12260365" cy="0"/>
          </a:xfrm>
          <a:prstGeom prst="line">
            <a:avLst/>
          </a:prstGeom>
          <a:ln w="6350" cap="flat" cmpd="sng" algn="ctr">
            <a:solidFill>
              <a:schemeClr val="accent5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65173" y="2215092"/>
            <a:ext cx="10611576" cy="73286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48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3" y="3093068"/>
            <a:ext cx="10611576" cy="46727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133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2pPr>
            <a:lvl3pPr marL="755612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3pPr>
            <a:lvl4pPr marL="1130244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4pPr>
            <a:lvl5pPr marL="144349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64F9DD-DE30-C34A-A485-A07A839C3C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63317" y="5454985"/>
            <a:ext cx="3510899" cy="683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client logo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2B273F-83BA-A2C5-1897-4D85557B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56" y="356034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45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White">
    <p:bg>
      <p:bgPr>
        <a:solidFill>
          <a:srgbClr val="FE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5950" y="571697"/>
            <a:ext cx="10807652" cy="44048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2667"/>
              </a:lnSpc>
              <a:defRPr sz="2933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Slide title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0608-C600-554E-813F-6D4EC02AF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70" y="1583269"/>
            <a:ext cx="10807700" cy="2800351"/>
          </a:xfrm>
          <a:prstGeom prst="rect">
            <a:avLst/>
          </a:prstGeom>
        </p:spPr>
        <p:txBody>
          <a:bodyPr/>
          <a:lstStyle>
            <a:lvl1pPr marL="380981" indent="-380981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8988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3926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30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502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C8156-3E9F-6D42-BC09-E86831EB4BD7}"/>
              </a:ext>
            </a:extLst>
          </p:cNvPr>
          <p:cNvSpPr txBox="1"/>
          <p:nvPr userDrawn="1"/>
        </p:nvSpPr>
        <p:spPr>
          <a:xfrm>
            <a:off x="11469217" y="6576097"/>
            <a:ext cx="666087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99FBE0F-E013-8744-85F1-2202A360EF8A}" type="slidenum">
              <a:rPr lang="en-US" sz="667" b="0" i="0" spc="0" baseline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667" b="0" i="0" spc="0" baseline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BCDDE-4B2D-D9CB-1B80-F64BBF7AB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8997"/>
            <a:ext cx="419279" cy="358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0FCFB7-345B-5532-901F-FB3C2AA30452}"/>
              </a:ext>
            </a:extLst>
          </p:cNvPr>
          <p:cNvGrpSpPr/>
          <p:nvPr userDrawn="1"/>
        </p:nvGrpSpPr>
        <p:grpSpPr>
          <a:xfrm>
            <a:off x="-56699" y="6286303"/>
            <a:ext cx="12248699" cy="582884"/>
            <a:chOff x="-42524" y="4714727"/>
            <a:chExt cx="9186524" cy="4371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D3E70E-8207-1DD9-A0BA-C9B76DADC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2524" y="4714727"/>
              <a:ext cx="9186524" cy="437163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82186-B640-AD70-6515-3EE323ECF299}"/>
                </a:ext>
              </a:extLst>
            </p:cNvPr>
            <p:cNvGrpSpPr/>
            <p:nvPr userDrawn="1"/>
          </p:nvGrpSpPr>
          <p:grpSpPr>
            <a:xfrm>
              <a:off x="157229" y="4832170"/>
              <a:ext cx="1798358" cy="269180"/>
              <a:chOff x="314460" y="4647384"/>
              <a:chExt cx="2355272" cy="359852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14B8BAAB-1A0E-E7F6-9140-98409B12FF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3" t="31741" r="22676" b="46337"/>
              <a:stretch/>
            </p:blipFill>
            <p:spPr>
              <a:xfrm>
                <a:off x="314460" y="4647384"/>
                <a:ext cx="907472" cy="359852"/>
              </a:xfrm>
              <a:prstGeom prst="rect">
                <a:avLst/>
              </a:prstGeom>
            </p:spPr>
          </p:pic>
          <p:pic>
            <p:nvPicPr>
              <p:cNvPr id="13" name="Picture 12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7C5C02F2-245D-A75B-547C-7883F417D6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07" t="53939" r="23341" b="35665"/>
              <a:stretch/>
            </p:blipFill>
            <p:spPr>
              <a:xfrm>
                <a:off x="1221932" y="4714151"/>
                <a:ext cx="1447800" cy="293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3742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74">
          <p15:clr>
            <a:srgbClr val="FBAE40"/>
          </p15:clr>
        </p15:guide>
        <p15:guide id="2" pos="3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375515-9FD6-8C19-7EA4-595E1825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D5DAF-D28B-277D-AEB9-754B98D6C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07262-DBF8-648C-2480-0390A487A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08CCD-6F5E-45DA-9E22-9645DA948374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CEDA9-FEDD-47D6-4196-695F5A3C4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8F89-3B3E-C449-DDF0-D69EA41C9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A64BD-B43E-4D9E-91BE-DF57F06FC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3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260" y="2183517"/>
            <a:ext cx="11296739" cy="732869"/>
          </a:xfrm>
        </p:spPr>
        <p:txBody>
          <a:bodyPr>
            <a:normAutofit fontScale="90000"/>
          </a:bodyPr>
          <a:lstStyle/>
          <a:p>
            <a:pPr algn="l"/>
            <a:r>
              <a:rPr lang="en-US"/>
              <a:t>Analytical Functions (Rank;Dense_Rank;Row_Number)</a:t>
            </a:r>
          </a:p>
        </p:txBody>
      </p:sp>
    </p:spTree>
    <p:extLst>
      <p:ext uri="{BB962C8B-B14F-4D97-AF65-F5344CB8AC3E}">
        <p14:creationId xmlns:p14="http://schemas.microsoft.com/office/powerpoint/2010/main" val="65809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1D73-A750-F4CD-FDD2-07BC6923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A22A5-0764-551D-7ABC-4531D619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Analytical Functions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32B746-A878-797F-AA66-C2EAA6FF0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" y="1045756"/>
            <a:ext cx="9652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Analytical functions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calculations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a set of rows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related to the current row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aggregate functions, they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collapse rows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single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Commonly used with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OVER() clause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partitioning and ordering of data for detailed analysis.</a:t>
            </a:r>
          </a:p>
        </p:txBody>
      </p:sp>
      <p:pic>
        <p:nvPicPr>
          <p:cNvPr id="8195" name="Picture 3" descr="Oracle SQL Analytical Functions. In this post, we'll explore SQL… | by  Prasad Yejarla | Medium">
            <a:extLst>
              <a:ext uri="{FF2B5EF4-FFF2-40B4-BE49-F238E27FC236}">
                <a16:creationId xmlns:a16="http://schemas.microsoft.com/office/drawing/2014/main" id="{FCF98AE1-C9DD-54EA-5DD6-7255B7431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510" y="2279655"/>
            <a:ext cx="5474970" cy="400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43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262CB6-A228-C6F6-EE15-B50DA0F2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181462"/>
            <a:ext cx="107251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 is an analytical function in SQL.</a:t>
            </a:r>
            <a:r>
              <a:rPr lang="en-US" sz="1600"/>
              <a:t> Assigns a </a:t>
            </a:r>
            <a:r>
              <a:rPr lang="en-US" sz="1600" b="1"/>
              <a:t>rank to each row</a:t>
            </a:r>
            <a:r>
              <a:rPr lang="en-US" sz="1600"/>
              <a:t> based on a </a:t>
            </a:r>
            <a:r>
              <a:rPr lang="en-US" sz="1600" b="1"/>
              <a:t>specific order of a column</a:t>
            </a:r>
            <a:r>
              <a:rPr lang="en-US" sz="1600"/>
              <a:t>.</a:t>
            </a:r>
            <a:r>
              <a:rPr lang="en-US" sz="1600" b="1"/>
              <a:t> Rows with the same value get the same rank</a:t>
            </a:r>
            <a:r>
              <a:rPr lang="en-US" sz="1600"/>
              <a:t>, but gaps appear in ranking after ties.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200BAA-0AC1-53A5-F5AE-569E17482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920387"/>
              </p:ext>
            </p:extLst>
          </p:nvPr>
        </p:nvGraphicFramePr>
        <p:xfrm>
          <a:off x="492240" y="2253039"/>
          <a:ext cx="4305005" cy="1358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005">
                  <a:extLst>
                    <a:ext uri="{9D8B030D-6E8A-4147-A177-3AD203B41FA5}">
                      <a16:colId xmlns:a16="http://schemas.microsoft.com/office/drawing/2014/main" val="1168865225"/>
                    </a:ext>
                  </a:extLst>
                </a:gridCol>
              </a:tblGrid>
              <a:tr h="1358841">
                <a:tc>
                  <a:txBody>
                    <a:bodyPr/>
                    <a:lstStyle/>
                    <a:p>
                      <a:r>
                        <a:rPr lang="en-US" sz="2000" b="1"/>
                        <a:t>Syntax: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RANK() OVER (PARTITION BY column_name ORDER BY column_name [ASC|DESC])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764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A3AD2D-7AAB-5F72-B030-8A97E0F4006E}"/>
              </a:ext>
            </a:extLst>
          </p:cNvPr>
          <p:cNvSpPr txBox="1"/>
          <p:nvPr/>
        </p:nvSpPr>
        <p:spPr>
          <a:xfrm>
            <a:off x="492240" y="3964781"/>
            <a:ext cx="665151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Explanation:</a:t>
            </a:r>
            <a:endParaRPr 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OVER()</a:t>
            </a:r>
            <a:r>
              <a:rPr lang="en-US"/>
              <a:t>: Defines the order for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PARTITION BY</a:t>
            </a:r>
            <a:r>
              <a:rPr lang="en-US"/>
              <a:t>: Optional; divides data into groups before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ORDER BY</a:t>
            </a:r>
            <a:r>
              <a:rPr lang="en-US"/>
              <a:t>: Defines the column(s) to rank.</a:t>
            </a:r>
          </a:p>
        </p:txBody>
      </p:sp>
    </p:spTree>
    <p:extLst>
      <p:ext uri="{BB962C8B-B14F-4D97-AF65-F5344CB8AC3E}">
        <p14:creationId xmlns:p14="http://schemas.microsoft.com/office/powerpoint/2010/main" val="1399251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72D6-84B2-DF68-66DC-61AE7156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01CC-7BCF-CA9D-7906-6507A435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3361D6-7C6D-59E8-D08A-3CF214A0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304572"/>
            <a:ext cx="107251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Table:Employees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354D65-06F7-CDB4-69C3-7D233F264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61518"/>
              </p:ext>
            </p:extLst>
          </p:nvPr>
        </p:nvGraphicFramePr>
        <p:xfrm>
          <a:off x="838200" y="1795304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099290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19980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65302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8141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1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3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8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68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74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74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20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41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053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173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9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41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0556-C401-00AC-DC57-B0537511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5FEF-7BF9-3D87-AD30-D291E856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53BB3F-2951-EC85-B2F3-04EC4DD4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 WITHOUT PARTITION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89C9A-6B1F-D57B-8764-40F29F240D73}"/>
              </a:ext>
            </a:extLst>
          </p:cNvPr>
          <p:cNvSpPr txBox="1"/>
          <p:nvPr/>
        </p:nvSpPr>
        <p:spPr>
          <a:xfrm>
            <a:off x="581194" y="1496418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RANK() OVER (ORDER BY Salary DESC) </a:t>
            </a:r>
            <a:r>
              <a:rPr lang="en-US"/>
              <a:t>AS Rank</a:t>
            </a:r>
          </a:p>
          <a:p>
            <a:r>
              <a:rPr lang="en-US"/>
              <a:t>FROM Employees;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057F0E-7BCE-48A6-B932-1BF52EEF12D8}"/>
              </a:ext>
            </a:extLst>
          </p:cNvPr>
          <p:cNvGraphicFramePr>
            <a:graphicFrameLocks noGrp="1"/>
          </p:cNvGraphicFramePr>
          <p:nvPr/>
        </p:nvGraphicFramePr>
        <p:xfrm>
          <a:off x="685948" y="2594213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290986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76028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69655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9481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1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54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6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5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9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18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999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69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54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7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2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34A7-4991-42E4-2FF7-01DFEA56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BD5A-BFAD-D127-1589-391CF5F3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2C4AEA-78F6-9647-46CD-B7F552146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 WITH PARTITION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7E22B-EF25-9236-C025-A650B0E02547}"/>
              </a:ext>
            </a:extLst>
          </p:cNvPr>
          <p:cNvSpPr txBox="1"/>
          <p:nvPr/>
        </p:nvSpPr>
        <p:spPr>
          <a:xfrm>
            <a:off x="581194" y="1496418"/>
            <a:ext cx="8242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RANK() OVER (PARTITION BY Department ORDER BY Salary DESC) </a:t>
            </a:r>
            <a:r>
              <a:rPr lang="en-US"/>
              <a:t>AS DeptRank</a:t>
            </a:r>
          </a:p>
          <a:p>
            <a:r>
              <a:rPr lang="en-US"/>
              <a:t>FROM Employees;</a:t>
            </a:r>
          </a:p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4D6D63-CDC1-6ADC-4556-58FC13E96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0586"/>
              </p:ext>
            </p:extLst>
          </p:nvPr>
        </p:nvGraphicFramePr>
        <p:xfrm>
          <a:off x="779273" y="2503964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927814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762208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10523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4610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DeptRank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05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43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9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57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7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3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39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62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010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77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A8F9-0339-FBBE-B591-8ECEFFDF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7F2A-C002-19D8-988C-16DD3584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D316A4-6767-2606-999D-192B138FB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9" y="907975"/>
            <a:ext cx="107251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Notes:</a:t>
            </a:r>
          </a:p>
          <a:p>
            <a:r>
              <a:rPr lang="en-US" b="1"/>
              <a:t>(In RANK WITHOUT PARTITION)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Bob and David have the </a:t>
            </a:r>
            <a:r>
              <a:rPr lang="en-US" b="1"/>
              <a:t>same salary</a:t>
            </a:r>
            <a:r>
              <a:rPr lang="en-US"/>
              <a:t>, so they share same rank, </a:t>
            </a:r>
            <a:r>
              <a:rPr lang="en-US" b="1"/>
              <a:t>Rank 1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next rank after the tie is </a:t>
            </a:r>
            <a:r>
              <a:rPr lang="en-US" b="1"/>
              <a:t>3</a:t>
            </a:r>
            <a:r>
              <a:rPr lang="en-US"/>
              <a:t>, not 2 (gap exists).</a:t>
            </a:r>
          </a:p>
        </p:txBody>
      </p:sp>
      <p:sp>
        <p:nvSpPr>
          <p:cNvPr id="186" name="Rectangle 152">
            <a:extLst>
              <a:ext uri="{FF2B5EF4-FFF2-40B4-BE49-F238E27FC236}">
                <a16:creationId xmlns:a16="http://schemas.microsoft.com/office/drawing/2014/main" id="{F64EC463-44B7-78FC-05E2-66EB10165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9" y="3886200"/>
            <a:ext cx="88056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 Performance: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Rank employees based on performance scores or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Competitions: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Assign ranks to participants based on scores or timings.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E-commerce: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Rank products based on ratings or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Analytics: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top N performers or products in each category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09E8DF7-6C8A-0D5B-C5FC-2ABA5AD00797}"/>
              </a:ext>
            </a:extLst>
          </p:cNvPr>
          <p:cNvSpPr txBox="1"/>
          <p:nvPr/>
        </p:nvSpPr>
        <p:spPr>
          <a:xfrm>
            <a:off x="834539" y="3424535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Real-World Usage of RANK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ED5B7FC-CBD1-7F3F-8AE1-7ACB2F7A1818}"/>
              </a:ext>
            </a:extLst>
          </p:cNvPr>
          <p:cNvSpPr txBox="1"/>
          <p:nvPr/>
        </p:nvSpPr>
        <p:spPr>
          <a:xfrm>
            <a:off x="685949" y="2544251"/>
            <a:ext cx="9658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Ranking is now </a:t>
            </a:r>
            <a:r>
              <a:rPr lang="en-US" b="1"/>
              <a:t>per department</a:t>
            </a:r>
            <a:r>
              <a:rPr lang="en-US"/>
              <a:t>, making it easier to analyze </a:t>
            </a:r>
            <a:r>
              <a:rPr lang="en-US" b="1"/>
              <a:t>top performers in each group.</a:t>
            </a:r>
            <a:endParaRPr lang="en-IN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3C77B94-2AFF-ED0D-1F10-2DDA45C768F6}"/>
              </a:ext>
            </a:extLst>
          </p:cNvPr>
          <p:cNvSpPr txBox="1"/>
          <p:nvPr/>
        </p:nvSpPr>
        <p:spPr>
          <a:xfrm>
            <a:off x="685949" y="2174919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(In RANK WITH PARTITION)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4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6481F-1D32-2C1A-ECEB-58D25F2B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0DA5-9879-0DBE-AB87-27360B56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Dense_Rank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C0D0FD-65EF-0759-FE34-A348DB6B0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181462"/>
            <a:ext cx="107251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Dense_RANK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is an analytical function in SQL.</a:t>
            </a:r>
            <a:r>
              <a:rPr lang="en-US" sz="1600"/>
              <a:t> Assigns a </a:t>
            </a:r>
            <a:r>
              <a:rPr lang="en-US" sz="1600" b="1"/>
              <a:t>rank to each row</a:t>
            </a:r>
            <a:r>
              <a:rPr lang="en-US" sz="1600"/>
              <a:t> based on a </a:t>
            </a:r>
            <a:r>
              <a:rPr lang="en-US" sz="1600" b="1"/>
              <a:t>specific order of a column</a:t>
            </a:r>
            <a:r>
              <a:rPr lang="en-US" sz="1600"/>
              <a:t>.</a:t>
            </a:r>
            <a:r>
              <a:rPr lang="en-US" sz="1600" b="1"/>
              <a:t> Rows with the same value get the same rank.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C1621D-6185-36A6-8C56-A62CDA9CA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924804"/>
              </p:ext>
            </p:extLst>
          </p:nvPr>
        </p:nvGraphicFramePr>
        <p:xfrm>
          <a:off x="492240" y="2253039"/>
          <a:ext cx="4305005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005">
                  <a:extLst>
                    <a:ext uri="{9D8B030D-6E8A-4147-A177-3AD203B41FA5}">
                      <a16:colId xmlns:a16="http://schemas.microsoft.com/office/drawing/2014/main" val="1168865225"/>
                    </a:ext>
                  </a:extLst>
                </a:gridCol>
              </a:tblGrid>
              <a:tr h="1358841">
                <a:tc>
                  <a:txBody>
                    <a:bodyPr/>
                    <a:lstStyle/>
                    <a:p>
                      <a:r>
                        <a:rPr lang="en-US" sz="2000" b="1"/>
                        <a:t>Syntax: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DENSE_RANK() OVER (PARTITION BY column_name ORDER BY column_name [ASC|DESC])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764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7400EA-BD93-AB0A-A5D1-E9B507179BBE}"/>
              </a:ext>
            </a:extLst>
          </p:cNvPr>
          <p:cNvSpPr txBox="1"/>
          <p:nvPr/>
        </p:nvSpPr>
        <p:spPr>
          <a:xfrm>
            <a:off x="492240" y="3964781"/>
            <a:ext cx="665151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Explanation:</a:t>
            </a:r>
            <a:endParaRPr 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OVER()</a:t>
            </a:r>
            <a:r>
              <a:rPr lang="en-US"/>
              <a:t>: Defines the order for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PARTITION BY</a:t>
            </a:r>
            <a:r>
              <a:rPr lang="en-US"/>
              <a:t>: Optional; divides data into groups before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ORDER BY</a:t>
            </a:r>
            <a:r>
              <a:rPr lang="en-US"/>
              <a:t>: Defines the column(s) to rank.</a:t>
            </a:r>
          </a:p>
        </p:txBody>
      </p:sp>
    </p:spTree>
    <p:extLst>
      <p:ext uri="{BB962C8B-B14F-4D97-AF65-F5344CB8AC3E}">
        <p14:creationId xmlns:p14="http://schemas.microsoft.com/office/powerpoint/2010/main" val="998781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C51D-54BA-E0DD-2493-DE84AA48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D5BA-005B-60D3-18F0-FCB78CC6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Dense_Rank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493E716-134B-AFFA-F006-39FBFB361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304572"/>
            <a:ext cx="107251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Table:Employees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5304AE-87AD-B55A-DC17-D8373486A71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95304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099290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19980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65302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8141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1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3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8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68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74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74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20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41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053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173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9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17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F0CE3-7A96-BA55-AE65-9F1E0024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DEFC-5ECC-1722-33B3-434A4301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Dense_Rank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A08B4AC-6289-6E1E-A19E-AA1470293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DENSE_RANK WITHOUT PARTITION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795E0-CB4B-B0B0-F26F-4307DFBA38B0}"/>
              </a:ext>
            </a:extLst>
          </p:cNvPr>
          <p:cNvSpPr txBox="1"/>
          <p:nvPr/>
        </p:nvSpPr>
        <p:spPr>
          <a:xfrm>
            <a:off x="581194" y="1496418"/>
            <a:ext cx="78998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DENSE_RANK() OVER (ORDER BY Salary DESC) </a:t>
            </a:r>
            <a:r>
              <a:rPr lang="en-US"/>
              <a:t>AS Dense_Rank</a:t>
            </a:r>
          </a:p>
          <a:p>
            <a:r>
              <a:rPr lang="en-US"/>
              <a:t>FROM Employees;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EC5EB-D62F-BB6D-F36C-2A5C8CC1B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79745"/>
              </p:ext>
            </p:extLst>
          </p:nvPr>
        </p:nvGraphicFramePr>
        <p:xfrm>
          <a:off x="685948" y="2594213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290986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76028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69655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9481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err="1"/>
                        <a:t>Dense_Rank</a:t>
                      </a:r>
                      <a:endParaRPr lang="en-IN" sz="16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1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54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6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5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9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18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999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69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54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7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85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E5B57-3E74-99E8-B33A-96C4CDA2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0D3A-2D33-C5B6-6C82-149CB6C3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60B576-3D0B-8419-C6DB-3722E267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DENSE_RANK WITH PARTITION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45F3F-C14D-620A-A3F1-C0334EE38BA6}"/>
              </a:ext>
            </a:extLst>
          </p:cNvPr>
          <p:cNvSpPr txBox="1"/>
          <p:nvPr/>
        </p:nvSpPr>
        <p:spPr>
          <a:xfrm>
            <a:off x="581194" y="1496418"/>
            <a:ext cx="9191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DENSE_RANK() OVER (PARTITION BY Department ORDER BY Salary DESC) </a:t>
            </a:r>
            <a:r>
              <a:rPr lang="en-US"/>
              <a:t>AS DeptRank</a:t>
            </a:r>
          </a:p>
          <a:p>
            <a:r>
              <a:rPr lang="en-US"/>
              <a:t>FROM Employees;</a:t>
            </a:r>
          </a:p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131C80-8CF7-8B9F-5BB5-E6BAB6DB3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67793"/>
              </p:ext>
            </p:extLst>
          </p:nvPr>
        </p:nvGraphicFramePr>
        <p:xfrm>
          <a:off x="779273" y="2503964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927814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762208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10523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4610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DeptRank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05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43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9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57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7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3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39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62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010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16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A1C5-7653-C1D6-1B3D-1DA9AD22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BDBF-F520-85EB-4F61-D14F6974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Dense_Rank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F76914-3D27-21A4-147D-9908A1B6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9" y="907975"/>
            <a:ext cx="107251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Notes:</a:t>
            </a:r>
          </a:p>
          <a:p>
            <a:r>
              <a:rPr lang="en-US" b="1"/>
              <a:t>(In DENSE_RANK WITHOUT PARTITION)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Bob and David have the </a:t>
            </a:r>
            <a:r>
              <a:rPr lang="en-US" b="1"/>
              <a:t>same salary</a:t>
            </a:r>
            <a:r>
              <a:rPr lang="en-US"/>
              <a:t>, so they share same rank, </a:t>
            </a:r>
            <a:r>
              <a:rPr lang="en-US" b="1"/>
              <a:t>Rank 1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next dense_rank after the tie is </a:t>
            </a:r>
            <a:r>
              <a:rPr lang="en-US" b="1"/>
              <a:t>2</a:t>
            </a:r>
            <a:r>
              <a:rPr lang="en-US"/>
              <a:t>, not 3 (gap doesn’t exists).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DEAA313-8086-74A0-96FB-1480CD422CC8}"/>
              </a:ext>
            </a:extLst>
          </p:cNvPr>
          <p:cNvSpPr txBox="1"/>
          <p:nvPr/>
        </p:nvSpPr>
        <p:spPr>
          <a:xfrm>
            <a:off x="834539" y="3424535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Real-World Usage of DENSE_RANK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4C31C7A-C8BC-C3AC-E640-E53E925AD97A}"/>
              </a:ext>
            </a:extLst>
          </p:cNvPr>
          <p:cNvSpPr txBox="1"/>
          <p:nvPr/>
        </p:nvSpPr>
        <p:spPr>
          <a:xfrm>
            <a:off x="685949" y="2544251"/>
            <a:ext cx="9658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Ranking is now </a:t>
            </a:r>
            <a:r>
              <a:rPr lang="en-US" b="1"/>
              <a:t>per department</a:t>
            </a:r>
            <a:r>
              <a:rPr lang="en-US"/>
              <a:t>, making it easier to analyze </a:t>
            </a:r>
            <a:r>
              <a:rPr lang="en-US" b="1"/>
              <a:t>top performers in each group.</a:t>
            </a:r>
            <a:endParaRPr lang="en-IN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F87609B-BD18-57D9-5019-D5A339658CD6}"/>
              </a:ext>
            </a:extLst>
          </p:cNvPr>
          <p:cNvSpPr txBox="1"/>
          <p:nvPr/>
        </p:nvSpPr>
        <p:spPr>
          <a:xfrm>
            <a:off x="685949" y="2174919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(In RANK WITH PARTITION)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D62608-8935-F4BE-25AF-0CEA17D3C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7" y="4006959"/>
            <a:ext cx="1145159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Appraisal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Rank employees by performance or sales, ensuring no gaps in ranks.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Admissions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Assign ranks to students based on marks; ties share the same rank, next continues consecutively.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Sports Competitions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Rank athletes based on score or timing; fair ranking without skipping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Analysis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Rank products by revenue or quantity sold; useful in dashboards and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Loyalty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Rank customers based on total purchases or points for reward tiers.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E-commerce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Rank items by ratings, reviews, or sales — ensures continuous rank list for filtering.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&amp; BI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Identify top N performers/products in each category without gaps in ranking.</a:t>
            </a:r>
          </a:p>
        </p:txBody>
      </p:sp>
    </p:spTree>
    <p:extLst>
      <p:ext uri="{BB962C8B-B14F-4D97-AF65-F5344CB8AC3E}">
        <p14:creationId xmlns:p14="http://schemas.microsoft.com/office/powerpoint/2010/main" val="397092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6AE7-877D-42D1-4472-44E860B0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32EF-0A1D-6159-7747-E6FDE7A6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Difference Between Rank and Dense_Rank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9ABCE6-3D55-CD39-31E9-5A5CC9437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53314"/>
              </p:ext>
            </p:extLst>
          </p:nvPr>
        </p:nvGraphicFramePr>
        <p:xfrm>
          <a:off x="685949" y="1452404"/>
          <a:ext cx="10515600" cy="4236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400989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22488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68974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RANK()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DENSE_RANK()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493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Definition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Assigns rank to rows with gaps if there are 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Assigns rank to rows without gaps, even if there are 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52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Handling of Ties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Same rank is given to tied rows, but the next rank is skipped.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Same rank is given to tied rows, but the next rank continues sequentially.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143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Example (Scores: 95, 90, 90, 85)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Ranks = 1, 2, 2, 4 (gap after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Ranks = 1, 2, 2, 3 (no gap after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14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When actual ranking order (with skipped positions) is important.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When continuous ranking is required for reporting.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13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Output Style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Produces gaps in ranking numbers.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Produces consecutive ranking numbers.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16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Similar to DENSE_RANK() (both are window functions).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Similar to RANK() (both are window functions).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179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16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95B5-AAED-0A60-B95D-7591C233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FC5B-3D2A-9F61-9809-E631C8C3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609914"/>
            <a:ext cx="10904859" cy="440488"/>
          </a:xfrm>
        </p:spPr>
        <p:txBody>
          <a:bodyPr/>
          <a:lstStyle/>
          <a:p>
            <a:r>
              <a:rPr lang="en-US"/>
              <a:t>Row_Number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EF485F-4AB4-0F22-6D7B-DAB7A1026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063939"/>
              </p:ext>
            </p:extLst>
          </p:nvPr>
        </p:nvGraphicFramePr>
        <p:xfrm>
          <a:off x="492240" y="2253039"/>
          <a:ext cx="4305005" cy="15417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005">
                  <a:extLst>
                    <a:ext uri="{9D8B030D-6E8A-4147-A177-3AD203B41FA5}">
                      <a16:colId xmlns:a16="http://schemas.microsoft.com/office/drawing/2014/main" val="1168865225"/>
                    </a:ext>
                  </a:extLst>
                </a:gridCol>
              </a:tblGrid>
              <a:tr h="1541721">
                <a:tc>
                  <a:txBody>
                    <a:bodyPr/>
                    <a:lstStyle/>
                    <a:p>
                      <a:r>
                        <a:rPr lang="en-US" sz="2000" b="1"/>
                        <a:t>Syntax:</a:t>
                      </a:r>
                    </a:p>
                    <a:p>
                      <a:r>
                        <a:rPr lang="en-US"/>
                        <a:t>ROW_NUMBER() OVER (</a:t>
                      </a:r>
                    </a:p>
                    <a:p>
                      <a:r>
                        <a:rPr lang="en-US"/>
                        <a:t>    [PARTITION BY column_name]</a:t>
                      </a:r>
                    </a:p>
                    <a:p>
                      <a:r>
                        <a:rPr lang="en-US"/>
                        <a:t>    ORDER BY column_name [ASC|DESC]</a:t>
                      </a:r>
                    </a:p>
                    <a:p>
                      <a:r>
                        <a:rPr lang="en-US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764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98F8D4-D346-7EA4-61D2-651EB02B4FAA}"/>
              </a:ext>
            </a:extLst>
          </p:cNvPr>
          <p:cNvSpPr txBox="1"/>
          <p:nvPr/>
        </p:nvSpPr>
        <p:spPr>
          <a:xfrm>
            <a:off x="492240" y="3964781"/>
            <a:ext cx="665151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Explanation:</a:t>
            </a:r>
            <a:endParaRPr 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OVER()</a:t>
            </a:r>
            <a:r>
              <a:rPr lang="en-US"/>
              <a:t>: Defines the order for </a:t>
            </a:r>
            <a:r>
              <a:rPr lang="en-US" err="1"/>
              <a:t>row_numbering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PARTITION BY</a:t>
            </a:r>
            <a:r>
              <a:rPr lang="en-US"/>
              <a:t>:Optional,divides data into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 ORDER BY</a:t>
            </a:r>
            <a:r>
              <a:rPr lang="en-US"/>
              <a:t>: Defines ordering inside each partition.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710346-D5D9-4BC6-85AA-02F64813E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181461"/>
            <a:ext cx="109048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ROW_NUMBER()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window function in SQL.It assigns a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sequential number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each row within a result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if rows have the same values,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ROW_NUMBER does not skip or repeat numbers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77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DA45-849D-A41D-6DAE-79E11268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D798-F06C-B42D-2AD2-2B12680E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Row_Number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B239CA-696B-A41A-5F07-309D7063F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304572"/>
            <a:ext cx="107251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Table:Employees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1E00F9-B316-C11F-C5B0-1537E0901A5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95304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099290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19980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65302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8141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1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63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89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68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74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74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20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41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053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173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9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118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8834-C778-9047-EABC-7ED43FC1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118E-634C-A68D-4688-2A717C70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F3B87D-719D-8D37-8E7F-0CDF676D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altLang="en-US" b="1" u="sng">
                <a:latin typeface="Arial" panose="020B0604020202020204" pitchFamily="34" charset="0"/>
              </a:rPr>
              <a:t>OW_NUMBER WITHOUT PARTITION</a:t>
            </a:r>
            <a:endParaRPr kumimoji="0" lang="en-US" altLang="en-US" b="1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6AF0F-0E92-037D-8BC1-0CB809F19F4C}"/>
              </a:ext>
            </a:extLst>
          </p:cNvPr>
          <p:cNvSpPr txBox="1"/>
          <p:nvPr/>
        </p:nvSpPr>
        <p:spPr>
          <a:xfrm>
            <a:off x="581194" y="1496418"/>
            <a:ext cx="7888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ROW_NUMBER() OVER (ORDER BY Salary DESC) </a:t>
            </a:r>
            <a:r>
              <a:rPr lang="en-US"/>
              <a:t>AS Row_Number</a:t>
            </a:r>
          </a:p>
          <a:p>
            <a:r>
              <a:rPr lang="en-US"/>
              <a:t>FROM Employees;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7FC52B-EF8B-8F79-C237-E73CC2C09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555078"/>
              </p:ext>
            </p:extLst>
          </p:nvPr>
        </p:nvGraphicFramePr>
        <p:xfrm>
          <a:off x="685948" y="2594213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5290986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76028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69655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9481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Row_Number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1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54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6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56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9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18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999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8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69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54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  <a:r>
                        <a:rPr lang="en-IN" sz="16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79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695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2362-011F-660A-6234-95C1492E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0D97-0228-9C65-105A-2D4CA5BE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Rank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EF789A-F2E4-B86A-80B4-72AAA12F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4" y="1127086"/>
            <a:ext cx="107251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ROW_NUMBER WITH PARTITION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B31ED-02C2-1177-23E9-83CCD1ADF146}"/>
              </a:ext>
            </a:extLst>
          </p:cNvPr>
          <p:cNvSpPr txBox="1"/>
          <p:nvPr/>
        </p:nvSpPr>
        <p:spPr>
          <a:xfrm>
            <a:off x="581194" y="1496418"/>
            <a:ext cx="95229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SELECT Name, Department, Salary,</a:t>
            </a:r>
          </a:p>
          <a:p>
            <a:r>
              <a:rPr lang="en-US"/>
              <a:t>       </a:t>
            </a:r>
            <a:r>
              <a:rPr lang="en-US" b="1"/>
              <a:t>ROW_NUMBER() OVER (PARTITION BY Department ORDER BY Salary DESC) </a:t>
            </a:r>
            <a:r>
              <a:rPr lang="en-US"/>
              <a:t>AS DeptRank</a:t>
            </a:r>
          </a:p>
          <a:p>
            <a:r>
              <a:rPr lang="en-US"/>
              <a:t>FROM Employees;</a:t>
            </a:r>
          </a:p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3AE28A-3043-0A05-0E98-2A6378B7B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52212"/>
              </p:ext>
            </p:extLst>
          </p:nvPr>
        </p:nvGraphicFramePr>
        <p:xfrm>
          <a:off x="779273" y="2503964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927814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762208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10523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4610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DeptRank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05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43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David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19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Daniel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57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Michael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27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33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Sophia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394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Emma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62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Olivia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010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841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BDFF-0D8C-BF57-33F5-29256A72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3FE8-167D-C3D7-B08F-1D5277B9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Row_Number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E7EE754-578A-499C-DEC3-715A99B7D4CB}"/>
              </a:ext>
            </a:extLst>
          </p:cNvPr>
          <p:cNvSpPr txBox="1"/>
          <p:nvPr/>
        </p:nvSpPr>
        <p:spPr>
          <a:xfrm>
            <a:off x="525929" y="1092640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Real-World Usage of ROW_NUMBER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D3E7F1-98C5-4815-A732-D3A1963B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835259"/>
            <a:ext cx="1079372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Pagination in Applications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Break large results into pages (e.g., display 10 records per page in e-commerce sites).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Removing Duplicates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Keep only the first occurrence in each partition while deleting duplicates.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Top-N Selection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Pick top N salaries, top N products by sales, or top N students by marks.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Sequential Numbering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Generate serial numbers for reports, invoices, or student roll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 Tracking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Order transactions, clicks, or activities for each user in sequence.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Sampling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Select every Nth row or random subsets for testing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Audit &amp; Logging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Assign unique row numbers to log entries for easy referencing</a:t>
            </a:r>
          </a:p>
        </p:txBody>
      </p:sp>
    </p:spTree>
    <p:extLst>
      <p:ext uri="{BB962C8B-B14F-4D97-AF65-F5344CB8AC3E}">
        <p14:creationId xmlns:p14="http://schemas.microsoft.com/office/powerpoint/2010/main" val="3221774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260" y="2183517"/>
            <a:ext cx="11296739" cy="732869"/>
          </a:xfrm>
        </p:spPr>
        <p:txBody>
          <a:bodyPr>
            <a:normAutofit fontScale="90000"/>
          </a:bodyPr>
          <a:lstStyle/>
          <a:p>
            <a:pPr algn="l"/>
            <a:r>
              <a:rPr lang="en-US"/>
              <a:t>Analytical Functions </a:t>
            </a:r>
            <a:br>
              <a:rPr lang="en-US"/>
            </a:br>
            <a:r>
              <a:rPr lang="en-US"/>
              <a:t>(Lead;Lag)</a:t>
            </a:r>
          </a:p>
        </p:txBody>
      </p:sp>
    </p:spTree>
    <p:extLst>
      <p:ext uri="{BB962C8B-B14F-4D97-AF65-F5344CB8AC3E}">
        <p14:creationId xmlns:p14="http://schemas.microsoft.com/office/powerpoint/2010/main" val="374229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/>
              <a:t>Lead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262CB6-A228-C6F6-EE15-B50DA0F2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058350"/>
            <a:ext cx="110561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LEAD() is an </a:t>
            </a:r>
            <a:r>
              <a:rPr lang="en-US" sz="1600" b="1"/>
              <a:t>analytic function</a:t>
            </a:r>
            <a:r>
              <a:rPr lang="en-US" sz="1600"/>
              <a:t> that allows you to access the value from the </a:t>
            </a:r>
            <a:r>
              <a:rPr lang="en-US" sz="1600" b="1"/>
              <a:t>next row</a:t>
            </a:r>
            <a:r>
              <a:rPr lang="en-US" sz="1600"/>
              <a:t> in the same result set, without using a self-join.</a:t>
            </a:r>
          </a:p>
          <a:p>
            <a:r>
              <a:rPr lang="en-US" sz="1600"/>
              <a:t>It’s useful for comparing the current row with future rows.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200BAA-0AC1-53A5-F5AE-569E17482A5F}"/>
              </a:ext>
            </a:extLst>
          </p:cNvPr>
          <p:cNvGraphicFramePr>
            <a:graphicFrameLocks noGrp="1"/>
          </p:cNvGraphicFramePr>
          <p:nvPr/>
        </p:nvGraphicFramePr>
        <p:xfrm>
          <a:off x="492240" y="2253039"/>
          <a:ext cx="4305005" cy="1358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005">
                  <a:extLst>
                    <a:ext uri="{9D8B030D-6E8A-4147-A177-3AD203B41FA5}">
                      <a16:colId xmlns:a16="http://schemas.microsoft.com/office/drawing/2014/main" val="1168865225"/>
                    </a:ext>
                  </a:extLst>
                </a:gridCol>
              </a:tblGrid>
              <a:tr h="1358841">
                <a:tc>
                  <a:txBody>
                    <a:bodyPr/>
                    <a:lstStyle/>
                    <a:p>
                      <a:r>
                        <a:rPr lang="en-US" sz="2000" b="1"/>
                        <a:t>Syntax:</a:t>
                      </a:r>
                    </a:p>
                    <a:p>
                      <a:endParaRPr lang="en-US" sz="2000" b="1"/>
                    </a:p>
                    <a:p>
                      <a:r>
                        <a:rPr lang="en-US"/>
                        <a:t>LEAD(column_name, offset, default_value) </a:t>
                      </a:r>
                    </a:p>
                    <a:p>
                      <a:r>
                        <a:rPr lang="en-US"/>
                        <a:t>OVER (PARTITION BY col ORDER BY col)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764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A3AD2D-7AAB-5F72-B030-8A97E0F4006E}"/>
              </a:ext>
            </a:extLst>
          </p:cNvPr>
          <p:cNvSpPr txBox="1"/>
          <p:nvPr/>
        </p:nvSpPr>
        <p:spPr>
          <a:xfrm>
            <a:off x="385914" y="3986046"/>
            <a:ext cx="6651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Explanation:</a:t>
            </a:r>
          </a:p>
          <a:p>
            <a:pPr>
              <a:buNone/>
            </a:pPr>
            <a:endParaRPr lang="en-US" sz="24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F8764A9-E823-189C-DCBB-CF33FD820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4355378"/>
            <a:ext cx="59330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column_name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Column to fetch value from next row.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offset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Number of rows forward to look (default is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default_value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Value if next row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1042166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72D6-84B2-DF68-66DC-61AE7156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01CC-7BCF-CA9D-7906-6507A435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Lead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3361D6-7C6D-59E8-D08A-3CF214A0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304572"/>
            <a:ext cx="107251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Table:Sales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04C1EE-E4B7-F3FF-9F6D-95DEE3399674}"/>
              </a:ext>
            </a:extLst>
          </p:cNvPr>
          <p:cNvGraphicFramePr>
            <a:graphicFrameLocks noGrp="1"/>
          </p:cNvGraphicFramePr>
          <p:nvPr/>
        </p:nvGraphicFramePr>
        <p:xfrm>
          <a:off x="685949" y="2019385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33876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5666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18235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55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81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377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26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58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45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9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232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0556-C401-00AC-DC57-B0537511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5FEF-7BF9-3D87-AD30-D291E856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Lead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53BB3F-2951-EC85-B2F3-04EC4DD4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3" y="1012185"/>
            <a:ext cx="107251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SELECT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EmpID,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Month,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Sales,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</a:t>
            </a:r>
            <a:r>
              <a:rPr lang="en-US" altLang="en-US" b="1">
                <a:latin typeface="Arial" panose="020B0604020202020204" pitchFamily="34" charset="0"/>
              </a:rPr>
              <a:t>LEAD(Sales, 1, 0) OVER(PARTITION BY EmpID ORDER BY Month) AS NextMonthSales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FROM Sales;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0DE72C-E268-6CC9-7030-F37E6F73F7B9}"/>
              </a:ext>
            </a:extLst>
          </p:cNvPr>
          <p:cNvGraphicFramePr>
            <a:graphicFrameLocks noGrp="1"/>
          </p:cNvGraphicFramePr>
          <p:nvPr/>
        </p:nvGraphicFramePr>
        <p:xfrm>
          <a:off x="790702" y="3043510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53413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43203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40976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358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NextMonthSales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50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97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20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69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50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218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6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77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A8F9-0339-FBBE-B591-8ECEFFDF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7F2A-C002-19D8-988C-16DD3584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Lead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09E8DF7-6C8A-0D5B-C5FC-2ABA5AD00797}"/>
              </a:ext>
            </a:extLst>
          </p:cNvPr>
          <p:cNvSpPr txBox="1"/>
          <p:nvPr/>
        </p:nvSpPr>
        <p:spPr>
          <a:xfrm>
            <a:off x="601192" y="1012185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Real-World Usage of Lead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006A00-2D4C-F167-BEA0-A67522727861}"/>
              </a:ext>
            </a:extLst>
          </p:cNvPr>
          <p:cNvSpPr txBox="1"/>
          <p:nvPr/>
        </p:nvSpPr>
        <p:spPr>
          <a:xfrm>
            <a:off x="601192" y="1569543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 Compare a person’s sales with </a:t>
            </a:r>
            <a:r>
              <a:rPr lang="en-US" b="1"/>
              <a:t>next month’s sales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Stock market: compare today’s price with </a:t>
            </a:r>
            <a:r>
              <a:rPr lang="en-US" b="1"/>
              <a:t>tomorrow’s price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 Customer churn: see whether the </a:t>
            </a:r>
            <a:r>
              <a:rPr lang="en-US" b="1"/>
              <a:t>next transaction</a:t>
            </a:r>
            <a:r>
              <a:rPr lang="en-US"/>
              <a:t> exists</a:t>
            </a:r>
          </a:p>
        </p:txBody>
      </p:sp>
    </p:spTree>
    <p:extLst>
      <p:ext uri="{BB962C8B-B14F-4D97-AF65-F5344CB8AC3E}">
        <p14:creationId xmlns:p14="http://schemas.microsoft.com/office/powerpoint/2010/main" val="1040886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87C2-D976-9618-8B58-F7905ECA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51D0-FEFB-D3FB-F527-29834D46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/>
              <a:t>Lag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2FAEB1-14F8-3817-BD8A-477D790AD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935240"/>
            <a:ext cx="1105618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LAG() is an </a:t>
            </a:r>
            <a:r>
              <a:rPr lang="en-US" sz="1600" b="1"/>
              <a:t>analytic function</a:t>
            </a:r>
            <a:r>
              <a:rPr lang="en-US" sz="1600"/>
              <a:t> that allows you to access the value from the </a:t>
            </a:r>
            <a:r>
              <a:rPr lang="en-US" sz="1600" b="1"/>
              <a:t>previous row</a:t>
            </a:r>
            <a:r>
              <a:rPr lang="en-US" sz="1600"/>
              <a:t> in the same result set, without using a self-join.</a:t>
            </a:r>
          </a:p>
          <a:p>
            <a:r>
              <a:rPr lang="en-US" sz="1600"/>
              <a:t>It’s useful for comparing the current row with past rows.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8A8922-30EE-EE7E-93E9-E71884CF9513}"/>
              </a:ext>
            </a:extLst>
          </p:cNvPr>
          <p:cNvGraphicFramePr>
            <a:graphicFrameLocks noGrp="1"/>
          </p:cNvGraphicFramePr>
          <p:nvPr/>
        </p:nvGraphicFramePr>
        <p:xfrm>
          <a:off x="492240" y="2253039"/>
          <a:ext cx="4305005" cy="1358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5005">
                  <a:extLst>
                    <a:ext uri="{9D8B030D-6E8A-4147-A177-3AD203B41FA5}">
                      <a16:colId xmlns:a16="http://schemas.microsoft.com/office/drawing/2014/main" val="1168865225"/>
                    </a:ext>
                  </a:extLst>
                </a:gridCol>
              </a:tblGrid>
              <a:tr h="1358841">
                <a:tc>
                  <a:txBody>
                    <a:bodyPr/>
                    <a:lstStyle/>
                    <a:p>
                      <a:r>
                        <a:rPr lang="en-US" sz="2000" b="1"/>
                        <a:t>Syntax:</a:t>
                      </a:r>
                    </a:p>
                    <a:p>
                      <a:endParaRPr lang="en-US" sz="2000" b="1"/>
                    </a:p>
                    <a:p>
                      <a:r>
                        <a:rPr lang="en-US"/>
                        <a:t>LAG(column_name, offset, default_value) </a:t>
                      </a:r>
                    </a:p>
                    <a:p>
                      <a:r>
                        <a:rPr lang="en-US"/>
                        <a:t>OVER (PARTITION BY col ORDER BY col)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7764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E93212-DD5C-2B37-A4BF-E7D147424E4C}"/>
              </a:ext>
            </a:extLst>
          </p:cNvPr>
          <p:cNvSpPr txBox="1"/>
          <p:nvPr/>
        </p:nvSpPr>
        <p:spPr>
          <a:xfrm>
            <a:off x="385914" y="3986046"/>
            <a:ext cx="6651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Explanation:</a:t>
            </a:r>
          </a:p>
          <a:p>
            <a:pPr>
              <a:buNone/>
            </a:pPr>
            <a:endParaRPr lang="en-US" sz="24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E9F2A7D-105B-0BDB-A067-1F92471FC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4355378"/>
            <a:ext cx="64204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column_name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Column to fetch value from </a:t>
            </a:r>
            <a:r>
              <a:rPr lang="en-US" altLang="en-US">
                <a:latin typeface="Arial" panose="020B0604020202020204" pitchFamily="34" charset="0"/>
              </a:rPr>
              <a:t>previous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offset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Number of rows </a:t>
            </a:r>
            <a:r>
              <a:rPr lang="en-US" altLang="en-US">
                <a:latin typeface="Arial" panose="020B0604020202020204" pitchFamily="34" charset="0"/>
              </a:rPr>
              <a:t>back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ward to look (default is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default_value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Value if </a:t>
            </a:r>
            <a:r>
              <a:rPr lang="en-US" altLang="en-US">
                <a:latin typeface="Arial" panose="020B0604020202020204" pitchFamily="34" charset="0"/>
              </a:rPr>
              <a:t>previous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605852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2ED3-8802-0FB0-4BFE-2CD0CCF2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C0C6-0400-4FCC-15DB-489B1E83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Lag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B4B9CA-F28B-7128-84AC-C8BA18799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40" y="1304572"/>
            <a:ext cx="107251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Table:Sales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8E3E04-B9B0-5708-BCFD-51CAEB585825}"/>
              </a:ext>
            </a:extLst>
          </p:cNvPr>
          <p:cNvGraphicFramePr>
            <a:graphicFrameLocks noGrp="1"/>
          </p:cNvGraphicFramePr>
          <p:nvPr/>
        </p:nvGraphicFramePr>
        <p:xfrm>
          <a:off x="685949" y="2019385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33876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5666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18235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55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81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377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26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58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452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59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185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69C3-DDB2-30A4-C7CA-61798814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E7DB-1DFF-992D-0425-B85F56BE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Lag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AB233BD-3C84-1340-0110-C317C4CD1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3" y="1012185"/>
            <a:ext cx="107251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SELECT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EmpID,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Month,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Sales,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  </a:t>
            </a:r>
            <a:r>
              <a:rPr lang="en-US" altLang="en-US" b="1">
                <a:latin typeface="Arial" panose="020B0604020202020204" pitchFamily="34" charset="0"/>
              </a:rPr>
              <a:t>LAG(Sales, 1, 0) OVER(PARTITION BY EmpID ORDER BY Month) AS PreviousMonthSales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FROM Sales;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5614F4-ED71-0561-5921-E6B3F6924E8E}"/>
              </a:ext>
            </a:extLst>
          </p:cNvPr>
          <p:cNvGraphicFramePr>
            <a:graphicFrameLocks noGrp="1"/>
          </p:cNvGraphicFramePr>
          <p:nvPr/>
        </p:nvGraphicFramePr>
        <p:xfrm>
          <a:off x="790702" y="3043510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534132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43203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40976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358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PreviousMonthSales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50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97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20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  <a:r>
                        <a:rPr lang="en-IN"/>
                        <a:t>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69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50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  <a:r>
                        <a:rPr lang="en-IN"/>
                        <a:t>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218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6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294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BC62-AE62-9C23-41F9-7E4E2F14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83B1-0580-0C71-D520-701A1DCA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49" y="571697"/>
            <a:ext cx="10904859" cy="440488"/>
          </a:xfrm>
        </p:spPr>
        <p:txBody>
          <a:bodyPr/>
          <a:lstStyle/>
          <a:p>
            <a:r>
              <a:rPr lang="en-US"/>
              <a:t>Lead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A4C693D-C42E-2951-01C4-AAECAB778B26}"/>
              </a:ext>
            </a:extLst>
          </p:cNvPr>
          <p:cNvSpPr txBox="1"/>
          <p:nvPr/>
        </p:nvSpPr>
        <p:spPr>
          <a:xfrm>
            <a:off x="601192" y="1012185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Real-World Usage of Lead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CCAB13-84D9-0EDE-CE29-218F52EA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92" y="1487843"/>
            <a:ext cx="78054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sales vs. previous month’s sales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Stock market: see today’s price compared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yesterday’s price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performance: compare student’s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score vs. previous exam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2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C87C-DBFB-E3B6-CEF4-C7E2B019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4A606-B73A-E12E-5C4F-2A8ADC11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Lead and Lag</a:t>
            </a:r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4B216C-3E90-D0C2-59EF-51338CDA5C9C}"/>
              </a:ext>
            </a:extLst>
          </p:cNvPr>
          <p:cNvGraphicFramePr>
            <a:graphicFrameLocks noGrp="1"/>
          </p:cNvGraphicFramePr>
          <p:nvPr/>
        </p:nvGraphicFramePr>
        <p:xfrm>
          <a:off x="1141293" y="1315262"/>
          <a:ext cx="9441582" cy="437935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47194">
                  <a:extLst>
                    <a:ext uri="{9D8B030D-6E8A-4147-A177-3AD203B41FA5}">
                      <a16:colId xmlns:a16="http://schemas.microsoft.com/office/drawing/2014/main" val="2073378713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447396418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2279345384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Feature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LEAD Function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LAG Function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3836234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Definition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Returns the value of a column from the </a:t>
                      </a:r>
                      <a:r>
                        <a:rPr lang="en-US" sz="1600" b="1"/>
                        <a:t>next row</a:t>
                      </a:r>
                      <a:r>
                        <a:rPr lang="en-US" sz="1600"/>
                        <a:t> in the result set.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Returns the value of a column from the </a:t>
                      </a:r>
                      <a:r>
                        <a:rPr lang="en-US" sz="1600" b="1"/>
                        <a:t>previous row</a:t>
                      </a:r>
                      <a:r>
                        <a:rPr lang="en-US" sz="1600"/>
                        <a:t> in the result set.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22442176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Direction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Looks </a:t>
                      </a:r>
                      <a:r>
                        <a:rPr lang="en-US" sz="1600" b="1"/>
                        <a:t>forward</a:t>
                      </a:r>
                      <a:r>
                        <a:rPr lang="en-US" sz="1600"/>
                        <a:t> (down) in the dataset.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Looks </a:t>
                      </a:r>
                      <a:r>
                        <a:rPr lang="en-US" sz="1600" b="1"/>
                        <a:t>backward</a:t>
                      </a:r>
                      <a:r>
                        <a:rPr lang="en-US" sz="1600"/>
                        <a:t> (up) in the dataset.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257127034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Usage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Used to compare current row with </a:t>
                      </a:r>
                      <a:r>
                        <a:rPr lang="en-US" sz="1600" b="1"/>
                        <a:t>future rows</a:t>
                      </a:r>
                      <a:r>
                        <a:rPr lang="en-US" sz="1600"/>
                        <a:t>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Used to compare current row with </a:t>
                      </a:r>
                      <a:r>
                        <a:rPr lang="en-US" sz="1600" b="1"/>
                        <a:t>past rows</a:t>
                      </a:r>
                      <a:r>
                        <a:rPr lang="en-US" sz="1600"/>
                        <a:t>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59948364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Syntax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LEAD(column, offset, default) OVER (ORDER BY col)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LAG(column, offset, default) OVER (ORDER BY col)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39909516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Offset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Offset defines how many rows ahead to look.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Offset defines how many rows back to look.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51305839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Default Value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Can specify a default value if no next row exists.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Can specify a default value if no previous row exists.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70560117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Example Scenario</a:t>
                      </a:r>
                      <a:endParaRPr lang="en-IN" sz="1600"/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Finding </a:t>
                      </a:r>
                      <a:r>
                        <a:rPr lang="en-US" sz="1600" b="1"/>
                        <a:t>next month’s sales</a:t>
                      </a:r>
                      <a:r>
                        <a:rPr lang="en-US" sz="1600"/>
                        <a:t> for comparison.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Finding </a:t>
                      </a:r>
                      <a:r>
                        <a:rPr lang="en-US" sz="1600" b="1"/>
                        <a:t>previous month’s sales</a:t>
                      </a:r>
                      <a:r>
                        <a:rPr lang="en-US" sz="1600"/>
                        <a:t> for comparison.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71350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489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5DBB10-2080-5746-8D95-B85AAFEC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260" y="2183517"/>
            <a:ext cx="11296739" cy="73286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Partition By and Order By</a:t>
            </a:r>
          </a:p>
        </p:txBody>
      </p:sp>
    </p:spTree>
    <p:extLst>
      <p:ext uri="{BB962C8B-B14F-4D97-AF65-F5344CB8AC3E}">
        <p14:creationId xmlns:p14="http://schemas.microsoft.com/office/powerpoint/2010/main" val="260366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 dirty="0"/>
              <a:t>Partition By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F67F7D5-7530-BCAE-9C74-C56DD630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63" y="1066513"/>
            <a:ext cx="754943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 the result set into smaller groups (partitions)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analytic function is then calculated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separately for each partition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GROUP BY ,rows are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collapsed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each row still appears in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no</a:t>
            </a:r>
            <a:r>
              <a:rPr lang="en-US" altLang="en-US" sz="1600" dirty="0">
                <a:latin typeface="Arial" panose="020B0604020202020204" pitchFamily="34" charset="0"/>
              </a:rPr>
              <a:t> PARTITION BY is given, whole result set is treated as one partition.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6A5ED2-9AB7-4737-C78C-31E125279250}"/>
              </a:ext>
            </a:extLst>
          </p:cNvPr>
          <p:cNvGraphicFramePr>
            <a:graphicFrameLocks noGrp="1"/>
          </p:cNvGraphicFramePr>
          <p:nvPr/>
        </p:nvGraphicFramePr>
        <p:xfrm>
          <a:off x="753139" y="2605396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507822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5370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76941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51804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EmpName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66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332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3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19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Meena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46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24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9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4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Pooja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59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5200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10365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46A1FB6-DA1A-0E61-DB3C-5D367F3C054D}"/>
              </a:ext>
            </a:extLst>
          </p:cNvPr>
          <p:cNvSpPr txBox="1"/>
          <p:nvPr/>
        </p:nvSpPr>
        <p:spPr>
          <a:xfrm>
            <a:off x="127590" y="2297619"/>
            <a:ext cx="61243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Example Table: Employee_Sales</a:t>
            </a:r>
          </a:p>
        </p:txBody>
      </p:sp>
    </p:spTree>
    <p:extLst>
      <p:ext uri="{BB962C8B-B14F-4D97-AF65-F5344CB8AC3E}">
        <p14:creationId xmlns:p14="http://schemas.microsoft.com/office/powerpoint/2010/main" val="2123185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9B16-1A8D-5677-BE5B-A09DEECE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6502-A4BF-8488-A534-E9C9213F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 dirty="0"/>
              <a:t>Partition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1DC22-8048-E0A5-3729-62744534854D}"/>
              </a:ext>
            </a:extLst>
          </p:cNvPr>
          <p:cNvSpPr txBox="1"/>
          <p:nvPr/>
        </p:nvSpPr>
        <p:spPr>
          <a:xfrm>
            <a:off x="643570" y="1111954"/>
            <a:ext cx="61243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EmpName, Dept, Sales,</a:t>
            </a:r>
          </a:p>
          <a:p>
            <a:r>
              <a:rPr lang="en-US" dirty="0"/>
              <a:t>       SUM(Sales) OVER (PARTITION BY Dept) AS Dept_Total</a:t>
            </a:r>
          </a:p>
          <a:p>
            <a:r>
              <a:rPr lang="en-US" dirty="0"/>
              <a:t>FROM Employee_Sales;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801A9-EDAD-9F3B-D957-88AC73FDAEAA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178589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418594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19412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42374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306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EmpName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Dept_Total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50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1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14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701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58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86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14200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88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5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195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Pooja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11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58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80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4DBE-C588-BC74-2C51-5EF813AD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1D651-F870-38F2-4E92-E694BE4E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 dirty="0"/>
              <a:t>Order By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3CB870-2D29-7438-FC63-F3906C476A9D}"/>
              </a:ext>
            </a:extLst>
          </p:cNvPr>
          <p:cNvGraphicFramePr>
            <a:graphicFrameLocks noGrp="1"/>
          </p:cNvGraphicFramePr>
          <p:nvPr/>
        </p:nvGraphicFramePr>
        <p:xfrm>
          <a:off x="753139" y="2605396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507822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5370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76941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51804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EmpID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EmpName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66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332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73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9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19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Meena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46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4700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248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9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4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Pooja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5800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59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5200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10365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AAB5391-0C28-B420-0C82-B90EEEF65957}"/>
              </a:ext>
            </a:extLst>
          </p:cNvPr>
          <p:cNvSpPr txBox="1"/>
          <p:nvPr/>
        </p:nvSpPr>
        <p:spPr>
          <a:xfrm>
            <a:off x="127590" y="2297619"/>
            <a:ext cx="61243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Example Table: Employee_Sales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7467D8-8210-42B0-572D-D049E3599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570" y="1220429"/>
            <a:ext cx="70014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ORDER BY defines the sequence </a:t>
            </a:r>
            <a:r>
              <a:rPr lang="en-US" altLang="en-US" sz="1600" dirty="0">
                <a:latin typeface="Arial" panose="020B0604020202020204" pitchFamily="34" charset="0"/>
              </a:rPr>
              <a:t>of rows within each partition.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used with functions like Row_Number,Rank,Lead,Lag.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Order By,Window Functions won’t calculate row-wise progression.</a:t>
            </a:r>
          </a:p>
        </p:txBody>
      </p:sp>
    </p:spTree>
    <p:extLst>
      <p:ext uri="{BB962C8B-B14F-4D97-AF65-F5344CB8AC3E}">
        <p14:creationId xmlns:p14="http://schemas.microsoft.com/office/powerpoint/2010/main" val="3439974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99D7-E8A1-5727-3D9C-F2663056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35CC-FD31-EFD8-2031-D7BF426F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 dirty="0"/>
              <a:t>Order 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BD059-A4BF-540D-B465-5AC46DA42647}"/>
              </a:ext>
            </a:extLst>
          </p:cNvPr>
          <p:cNvSpPr txBox="1"/>
          <p:nvPr/>
        </p:nvSpPr>
        <p:spPr>
          <a:xfrm>
            <a:off x="643570" y="1111954"/>
            <a:ext cx="8606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EmpName, Dept, Sales,</a:t>
            </a:r>
          </a:p>
          <a:p>
            <a:r>
              <a:rPr lang="en-US" dirty="0"/>
              <a:t>       ROW_NUMBER() OVER (PARTITION BY Dept ORDER BY Sales DESC) AS Row_Num</a:t>
            </a:r>
          </a:p>
          <a:p>
            <a:r>
              <a:rPr lang="en-US" dirty="0"/>
              <a:t>FROM Employee_Sales;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302E1D-E48F-2871-0F3B-18BB7D3BF087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2170368"/>
          <a:ext cx="10515600" cy="40233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18673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270440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86839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69558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EmpName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Row_Num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62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79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637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49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Kiran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955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30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0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7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Pooja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664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06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965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863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7BFCA-4FC2-E30E-F78B-DA82E66B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5681-CFB8-B734-9ECC-4CC82DF1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0" y="564524"/>
            <a:ext cx="10904859" cy="440488"/>
          </a:xfrm>
        </p:spPr>
        <p:txBody>
          <a:bodyPr/>
          <a:lstStyle/>
          <a:p>
            <a:r>
              <a:rPr lang="en-US" dirty="0"/>
              <a:t>Usage of Partition By and Order By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EF330A-973B-42A4-984B-EAF69B96AA5D}"/>
              </a:ext>
            </a:extLst>
          </p:cNvPr>
          <p:cNvGraphicFramePr>
            <a:graphicFrameLocks noGrp="1"/>
          </p:cNvGraphicFramePr>
          <p:nvPr/>
        </p:nvGraphicFramePr>
        <p:xfrm>
          <a:off x="767019" y="1409050"/>
          <a:ext cx="10471596" cy="453524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17899">
                  <a:extLst>
                    <a:ext uri="{9D8B030D-6E8A-4147-A177-3AD203B41FA5}">
                      <a16:colId xmlns:a16="http://schemas.microsoft.com/office/drawing/2014/main" val="3768075768"/>
                    </a:ext>
                  </a:extLst>
                </a:gridCol>
                <a:gridCol w="2617899">
                  <a:extLst>
                    <a:ext uri="{9D8B030D-6E8A-4147-A177-3AD203B41FA5}">
                      <a16:colId xmlns:a16="http://schemas.microsoft.com/office/drawing/2014/main" val="3106713460"/>
                    </a:ext>
                  </a:extLst>
                </a:gridCol>
                <a:gridCol w="2617899">
                  <a:extLst>
                    <a:ext uri="{9D8B030D-6E8A-4147-A177-3AD203B41FA5}">
                      <a16:colId xmlns:a16="http://schemas.microsoft.com/office/drawing/2014/main" val="771697024"/>
                    </a:ext>
                  </a:extLst>
                </a:gridCol>
                <a:gridCol w="2617899">
                  <a:extLst>
                    <a:ext uri="{9D8B030D-6E8A-4147-A177-3AD203B41FA5}">
                      <a16:colId xmlns:a16="http://schemas.microsoft.com/office/drawing/2014/main" val="842438526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Clause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Example Query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Example Use Case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18008929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PARTITION BY</a:t>
                      </a:r>
                      <a:endParaRPr lang="en-IN" sz="16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Divides result set into groups (like GROUP BY but keeps row-level data)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SUM(Salary) OVER(PARTITION BY Department)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Calculate total salary </a:t>
                      </a:r>
                      <a:r>
                        <a:rPr lang="en-US" sz="1600" b="1"/>
                        <a:t>per department</a:t>
                      </a:r>
                      <a:r>
                        <a:rPr lang="en-US" sz="1600"/>
                        <a:t> while still showing each employee’s row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20400982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ORDER BY</a:t>
                      </a:r>
                      <a:endParaRPr lang="en-IN" sz="16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Orders rows within each partition before applying window function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ROW_NUMBER() OVER(ORDER BY Salary DESC)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Assign unique row numbers to employees </a:t>
                      </a:r>
                      <a:r>
                        <a:rPr lang="en-US" sz="1600" b="1"/>
                        <a:t>based on descending salary</a:t>
                      </a:r>
                      <a:endParaRPr lang="en-US" sz="16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363567739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Both Together</a:t>
                      </a:r>
                      <a:endParaRPr lang="en-IN" sz="16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Combines grouping + ordering for more detailed analysis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RANK() OVER(PARTITION BY Department ORDER BY Salary DESC)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Rank employees </a:t>
                      </a:r>
                      <a:r>
                        <a:rPr lang="en-US" sz="1600" b="1"/>
                        <a:t>within each department</a:t>
                      </a:r>
                      <a:r>
                        <a:rPr lang="en-US" sz="1600"/>
                        <a:t> by salary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87554555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Without Partition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Entire table is treated as one partition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DENSE_RANK() OVER(ORDER BY Marks DESC)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Rank students across </a:t>
                      </a:r>
                      <a:r>
                        <a:rPr lang="en-US" sz="1600" b="1"/>
                        <a:t>whole university</a:t>
                      </a:r>
                      <a:endParaRPr lang="en-US" sz="16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601239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With Partition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Ranking/aggregation restarts for each partition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DENSE_RANK() OVER(PARTITION BY Class ORDER BY Marks DESC)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Rank students </a:t>
                      </a:r>
                      <a:r>
                        <a:rPr lang="en-US" sz="1600" b="1" dirty="0"/>
                        <a:t>within each class</a:t>
                      </a:r>
                      <a:endParaRPr lang="en-US" sz="1600" dirty="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48375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234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8E86AC857CA04FBDBC5CBCF563035C" ma:contentTypeVersion="11" ma:contentTypeDescription="Create a new document." ma:contentTypeScope="" ma:versionID="8b97104ef13757b2fcf5b73c2e5c451d">
  <xsd:schema xmlns:xsd="http://www.w3.org/2001/XMLSchema" xmlns:xs="http://www.w3.org/2001/XMLSchema" xmlns:p="http://schemas.microsoft.com/office/2006/metadata/properties" xmlns:ns2="f47ad30f-779d-4b00-ac13-afc37bf3bb1f" xmlns:ns3="0affa98b-6026-4c43-8670-8d5a7fdee18a" targetNamespace="http://schemas.microsoft.com/office/2006/metadata/properties" ma:root="true" ma:fieldsID="d6e57065e6343dac360c010b51842f08" ns2:_="" ns3:_="">
    <xsd:import namespace="f47ad30f-779d-4b00-ac13-afc37bf3bb1f"/>
    <xsd:import namespace="0affa98b-6026-4c43-8670-8d5a7fdee1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ad30f-779d-4b00-ac13-afc37bf3bb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89bfc37-40e7-4ffb-8afd-edd6ddce3a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ffa98b-6026-4c43-8670-8d5a7fdee18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16421c3-aacb-4fe6-97a7-abf04e632ebb}" ma:internalName="TaxCatchAll" ma:showField="CatchAllData" ma:web="0affa98b-6026-4c43-8670-8d5a7fdee1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ffa98b-6026-4c43-8670-8d5a7fdee18a" xsi:nil="true"/>
    <lcf76f155ced4ddcb4097134ff3c332f xmlns="f47ad30f-779d-4b00-ac13-afc37bf3bb1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86476E-153C-4242-AF9D-80098D2656C8}">
  <ds:schemaRefs>
    <ds:schemaRef ds:uri="0affa98b-6026-4c43-8670-8d5a7fdee18a"/>
    <ds:schemaRef ds:uri="f47ad30f-779d-4b00-ac13-afc37bf3bb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C1227E2-74C2-4DBD-9B74-03B0DDC2BF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155908-9496-4B7D-A67A-28338FEB6B38}">
  <ds:schemaRefs>
    <ds:schemaRef ds:uri="0affa98b-6026-4c43-8670-8d5a7fdee18a"/>
    <ds:schemaRef ds:uri="87ec9da3-7eaf-4066-9275-2bd508db8550"/>
    <ds:schemaRef ds:uri="f47ad30f-779d-4b00-ac13-afc37bf3bb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Analytical Functions (Rank;Dense_Rank;Row_Number)</vt:lpstr>
      <vt:lpstr>Analytical Functions</vt:lpstr>
      <vt:lpstr>Rank</vt:lpstr>
      <vt:lpstr>Rank</vt:lpstr>
      <vt:lpstr>Rank</vt:lpstr>
      <vt:lpstr>Rank</vt:lpstr>
      <vt:lpstr>Rank</vt:lpstr>
      <vt:lpstr>Dense_Rank</vt:lpstr>
      <vt:lpstr>Dense_Rank</vt:lpstr>
      <vt:lpstr>Dense_Rank</vt:lpstr>
      <vt:lpstr>Rank</vt:lpstr>
      <vt:lpstr>Dense_Rank</vt:lpstr>
      <vt:lpstr>Difference Between Rank and Dense_Rank</vt:lpstr>
      <vt:lpstr>Row_Number</vt:lpstr>
      <vt:lpstr>Row_Number</vt:lpstr>
      <vt:lpstr>Rank</vt:lpstr>
      <vt:lpstr>Rank</vt:lpstr>
      <vt:lpstr>Row_Number</vt:lpstr>
      <vt:lpstr>Analytical Functions  (Lead;Lag)</vt:lpstr>
      <vt:lpstr>Lead</vt:lpstr>
      <vt:lpstr>Lead</vt:lpstr>
      <vt:lpstr>Lead</vt:lpstr>
      <vt:lpstr>Lead</vt:lpstr>
      <vt:lpstr>Lag</vt:lpstr>
      <vt:lpstr>Lag</vt:lpstr>
      <vt:lpstr>Lag</vt:lpstr>
      <vt:lpstr>Lead</vt:lpstr>
      <vt:lpstr>Difference between Lead and Lag</vt:lpstr>
      <vt:lpstr>Partition By and Order By</vt:lpstr>
      <vt:lpstr>Partition By</vt:lpstr>
      <vt:lpstr>Partition By</vt:lpstr>
      <vt:lpstr>Order By</vt:lpstr>
      <vt:lpstr>Order By</vt:lpstr>
      <vt:lpstr>Usage of Partition By and Order 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Kashish Mittal</dc:creator>
  <cp:revision>7</cp:revision>
  <dcterms:created xsi:type="dcterms:W3CDTF">2025-08-20T05:57:22Z</dcterms:created>
  <dcterms:modified xsi:type="dcterms:W3CDTF">2025-10-06T06:37:09Z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0x010100238E86AC857CA04FBDBC5CBCF563035C</vt:lpwstr>
  </property>
  <property fmtid="{D5CDD505-2E9C-101B-9397-08002B2CF9AE}" pid="3" name="Order">
    <vt:r8>3400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{"FileActivityType":"9","FileActivityTimeStamp":"2025-08-21T06:07:38.850Z","FileActivityUsersOnPage":[{"DisplayName":"Kashish Mittal","Id":"kashish.mittal@complereinfosystem.com"},{"DisplayName":"Lokesh  Kumawat","Id":"lokesh.kumawat@complereinfosystem.com"}],"FileActivityNavigationId":null}</vt:lpwstr>
  </property>
  <property fmtid="{D5CDD505-2E9C-101B-9397-08002B2CF9AE}" pid="9" name="_ExtendedDescription">
    <vt:lpwstr/>
  </property>
  <property fmtid="{D5CDD505-2E9C-101B-9397-08002B2CF9AE}" pid="10" name="MediaServiceImageTags">
    <vt:lpwstr/>
  </property>
</Properties>
</file>